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6F66E-4978-CD90-A5AF-8E76F96C6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BC68B-26CB-E45E-56F9-AEB80879F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C902-1885-AD6A-0C74-58F5DBE2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071EA-969C-FFD6-3902-23EDD050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05E8F-0D5A-D866-D142-EFC1BAE7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4A01-F215-EACE-8115-79B6647F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91E5-9613-D84A-FA74-3823E4B5F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3EC08-69EB-40F7-8F0B-94D7225E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46040-B0D9-3DA4-4CBA-753EF2CD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8AC62-0F33-712C-6FAB-80DB9AC1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5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1AA7-EA2E-E856-C902-9220E6A0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8AA1D-5CC6-47B0-5034-F5F5526B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25A22-B605-6750-89E2-625DBFC8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00E99-D2EF-1AC0-EFFE-ACF26743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E4D3-D5BE-FCBC-DB8C-D39B37EB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49D9-87A8-8DD1-44DE-40803604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8592-E26D-EA8F-76FC-0A3AB6F81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008A6-410D-8800-39B0-1806BA044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9C469-3A01-7797-3E99-991D5E47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E1C56-E640-75EC-CB87-F648CD1C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51B5-5FD7-56F4-17A2-9AEED9EE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3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9A1D-CE9A-28F8-448D-145F4024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C7779-B474-C8B0-391B-34BCB8134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1862D-3222-B999-E55F-85D7B2704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946B6-1AC1-96F4-24DC-59151BD3A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01F69-7F4F-0C72-5CB8-CF3770506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D1D0F-B767-4790-35EF-0972F887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02474-537F-E897-BF27-2BEABE77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81648-0EEE-F63F-801A-85065803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8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4EC0-544A-9AE7-5E79-9C70B5E9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03EB7-1659-1695-C901-2C44D1352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4DACC-BF87-A0F2-3EF6-1F39BA07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61A2A-126A-4007-D14C-872F5D40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9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1A9F7-34BE-616E-3280-98F3E976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75BCC-4412-81CA-2983-4280F718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C2954-10D2-07A2-E1F5-217B21B0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1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A0B9-336F-8A00-DB5F-B6C15176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8F11-34D1-5556-570F-449236C47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C53A5-8E39-63AB-B7C5-0AAC1EB58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ED192-AB9B-6DBA-F1F3-7EB86522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9C4DC-1D76-9BD2-D7AC-83BB55BB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19AD3-D570-CE44-080A-6CF8E88B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8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2992-9AD8-819A-3479-3196FA21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B56A1-44FC-2F4C-8D6C-2A28986B3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8B1C7-E9DA-171E-A099-240E6B4C6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2C517-E561-C402-D6D4-88780622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16CE9-351C-A17D-0AF7-4386F947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10985-AE48-F76A-6405-6200CFF3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7A77D-304A-EDBB-3088-5933C08A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022E0-6E8D-DBE9-B5CD-EA0DB1100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575F6-4642-F48A-CF7B-5A1CAF20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B5BB0-9012-990E-B4AE-FB0509B47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6EE9-9B91-2EFC-C228-2EA13A68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705C0-BCAF-68FF-6B16-CCDAD4045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EF851-1B8D-B7B5-7533-25A4F6BDE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191A7-F450-E25A-FF45-0B219BA5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8D443-68E7-1F03-86D3-77362A52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C2DA5-6C21-43B4-1627-41D4113A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0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D30ECC-13BF-EF4A-1C2C-28367D07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668A2-7D33-44AC-0B38-179A48009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C8F6C-3CA6-41C0-4D41-C8BDF0A55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8A295-F28C-4ADA-AAEE-CD9548BD351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6299D-27FD-0D5F-D425-A5D252294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1D07-F84B-4452-0B61-4A4364948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5F66F-5DC5-4EB2-899A-5110B089F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1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73B60-B295-8E8D-1EAF-E73047357C6F}"/>
              </a:ext>
            </a:extLst>
          </p:cNvPr>
          <p:cNvSpPr txBox="1"/>
          <p:nvPr/>
        </p:nvSpPr>
        <p:spPr>
          <a:xfrm>
            <a:off x="984250" y="234950"/>
            <a:ext cx="1031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Housing Lock-In Effect: Modeling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C0055-648F-E261-5178-B52492D1AD89}"/>
              </a:ext>
            </a:extLst>
          </p:cNvPr>
          <p:cNvSpPr txBox="1"/>
          <p:nvPr/>
        </p:nvSpPr>
        <p:spPr>
          <a:xfrm>
            <a:off x="762000" y="2090172"/>
            <a:ext cx="10363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Two-level analysis: national time series (89 months) and state panel (50 states × 113 months)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models at each level: SARIMAX (parametric baseline) and </a:t>
            </a:r>
            <a:r>
              <a:rPr lang="en-US" sz="2400" dirty="0" err="1"/>
              <a:t>XGBoost</a:t>
            </a:r>
            <a:r>
              <a:rPr lang="en-US" sz="2400" dirty="0"/>
              <a:t> (nonlinear complement)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Primary outcome: monthly new listing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predictors and covariates: lock-in premium (</a:t>
            </a:r>
            <a:r>
              <a:rPr lang="en-US" sz="2400" dirty="0" err="1"/>
              <a:t>dL_c</a:t>
            </a:r>
            <a:r>
              <a:rPr lang="en-US" sz="2400" dirty="0"/>
              <a:t>), unemployment (</a:t>
            </a:r>
            <a:r>
              <a:rPr lang="en-US" sz="2400" dirty="0" err="1"/>
              <a:t>U_c</a:t>
            </a:r>
            <a:r>
              <a:rPr lang="en-US" sz="2400" dirty="0"/>
              <a:t>), Home Price Index (HPI) (</a:t>
            </a:r>
            <a:r>
              <a:rPr lang="en-US" sz="2400" dirty="0" err="1"/>
              <a:t>H_c</a:t>
            </a:r>
            <a:r>
              <a:rPr lang="en-US" sz="2400" dirty="0"/>
              <a:t>), permits (</a:t>
            </a:r>
            <a:r>
              <a:rPr lang="en-US" sz="2400" dirty="0" err="1"/>
              <a:t>dS</a:t>
            </a:r>
            <a:r>
              <a:rPr lang="en-US" sz="2400" dirty="0"/>
              <a:t>), industry group</a:t>
            </a:r>
          </a:p>
        </p:txBody>
      </p:sp>
    </p:spTree>
    <p:extLst>
      <p:ext uri="{BB962C8B-B14F-4D97-AF65-F5344CB8AC3E}">
        <p14:creationId xmlns:p14="http://schemas.microsoft.com/office/powerpoint/2010/main" val="7890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7AD8-F6B0-D5F3-E96B-BC1D3001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C3DE30-048D-EDAA-6BEA-7B023F77F715}"/>
              </a:ext>
            </a:extLst>
          </p:cNvPr>
          <p:cNvSpPr txBox="1"/>
          <p:nvPr/>
        </p:nvSpPr>
        <p:spPr>
          <a:xfrm>
            <a:off x="2184400" y="177800"/>
            <a:ext cx="7353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&amp; Model Setup for SARIMAX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FD4B6E-B931-F584-0191-9725F021A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635492"/>
              </p:ext>
            </p:extLst>
          </p:nvPr>
        </p:nvGraphicFramePr>
        <p:xfrm>
          <a:off x="1371600" y="922866"/>
          <a:ext cx="8102600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3179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27579452"/>
                    </a:ext>
                  </a:extLst>
                </a:gridCol>
                <a:gridCol w="2683934">
                  <a:extLst>
                    <a:ext uri="{9D8B030D-6E8A-4147-A177-3AD203B41FA5}">
                      <a16:colId xmlns:a16="http://schemas.microsoft.com/office/drawing/2014/main" val="4278594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National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83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and Testing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2016-08 to 2023-12 training, 2024-02 to 2025-12 test (22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4,450 training observations, 1,100 test observations across 50 states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70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SARIMAX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(0,1,1)×(0,1,1,12)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(1,1,1)×(2,1,1,12)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37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Assumption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passes all residual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violates residual independence and normality assumptions</a:t>
                      </a:r>
                      <a:r>
                        <a:rPr lang="en-US" dirty="0"/>
                        <a:t>; treated as directional evidence only, not for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53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728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A730-1765-8718-9D44-519C94E1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31CC0-2D78-4D51-8575-3B51B34245F4}"/>
              </a:ext>
            </a:extLst>
          </p:cNvPr>
          <p:cNvSpPr txBox="1"/>
          <p:nvPr/>
        </p:nvSpPr>
        <p:spPr>
          <a:xfrm>
            <a:off x="2857500" y="152400"/>
            <a:ext cx="6826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SARIMAX Residual Diagnostics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1B98D-E17F-26B5-864B-CFC4A847D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634682"/>
            <a:ext cx="5943600" cy="3315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F2CA66-CBC5-1942-1053-5D433745D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2" y="3325671"/>
            <a:ext cx="5617884" cy="3133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F474B1-795E-5CA5-EEE0-690A14DF6729}"/>
              </a:ext>
            </a:extLst>
          </p:cNvPr>
          <p:cNvSpPr txBox="1"/>
          <p:nvPr/>
        </p:nvSpPr>
        <p:spPr>
          <a:xfrm>
            <a:off x="6457950" y="14351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National: Ljung-Box p=0.82, JB p=0.92 </a:t>
            </a:r>
          </a:p>
          <a:p>
            <a:r>
              <a:rPr lang="en-US" dirty="0"/>
              <a:t>— </a:t>
            </a:r>
            <a:r>
              <a:rPr lang="en-US" b="1" dirty="0"/>
              <a:t>clean residuals, assumptions satisfied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34DFC-D968-3767-7836-282A68FE36E2}"/>
              </a:ext>
            </a:extLst>
          </p:cNvPr>
          <p:cNvSpPr txBox="1"/>
          <p:nvPr/>
        </p:nvSpPr>
        <p:spPr>
          <a:xfrm>
            <a:off x="914402" y="4902200"/>
            <a:ext cx="4375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State: Ljung-Box p=0.00, kurtosis=78.57, heteroskedasticity p=0.00 </a:t>
            </a:r>
          </a:p>
          <a:p>
            <a:r>
              <a:rPr lang="en-US" dirty="0"/>
              <a:t>— </a:t>
            </a:r>
            <a:r>
              <a:rPr lang="en-US" b="1" dirty="0"/>
              <a:t>all assumptions violated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8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191B-40E4-0993-8F7C-C15EAB72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D63B05-729D-C62B-F3F5-FAD70596E74B}"/>
              </a:ext>
            </a:extLst>
          </p:cNvPr>
          <p:cNvSpPr txBox="1"/>
          <p:nvPr/>
        </p:nvSpPr>
        <p:spPr>
          <a:xfrm>
            <a:off x="3270250" y="139700"/>
            <a:ext cx="505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XGBoost</a:t>
            </a:r>
            <a:r>
              <a:rPr lang="en-US" sz="3200" dirty="0"/>
              <a:t>: National vs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591353-7F12-F64F-91FF-84A34361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3" y="578391"/>
            <a:ext cx="5943600" cy="2560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DFD0A-ACD3-217C-90AE-77E21369EA84}"/>
                  </a:ext>
                </a:extLst>
              </p:cNvPr>
              <p:cNvSpPr txBox="1"/>
              <p:nvPr/>
            </p:nvSpPr>
            <p:spPr>
              <a:xfrm>
                <a:off x="6733691" y="771449"/>
                <a:ext cx="337962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National model: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Economic features roughly equally ranked: HPI &gt; Permits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Unemployment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Lock-in </a:t>
                </a:r>
                <a:r>
                  <a:rPr lang="en-US" dirty="0" err="1"/>
                  <a:t>Premuim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9DFD0A-ACD3-217C-90AE-77E21369E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691" y="771449"/>
                <a:ext cx="3379623" cy="1477328"/>
              </a:xfrm>
              <a:prstGeom prst="rect">
                <a:avLst/>
              </a:prstGeom>
              <a:blipFill>
                <a:blip r:embed="rId3"/>
                <a:stretch>
                  <a:fillRect l="-1625" t="-2066" r="-1625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2E664A9-439D-091D-140D-FA54B8518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0839"/>
            <a:ext cx="5943600" cy="28587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3D5261-474E-D27F-A290-3859CE986C05}"/>
              </a:ext>
            </a:extLst>
          </p:cNvPr>
          <p:cNvSpPr txBox="1"/>
          <p:nvPr/>
        </p:nvSpPr>
        <p:spPr>
          <a:xfrm>
            <a:off x="6733691" y="2248777"/>
            <a:ext cx="51408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model: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Lock-in </a:t>
            </a:r>
            <a:r>
              <a:rPr lang="en-US" dirty="0" err="1"/>
              <a:t>Premuim</a:t>
            </a:r>
            <a:r>
              <a:rPr lang="en-US" dirty="0"/>
              <a:t> rises to 4th overall (from last at national) — cross-state variation better identifies the lock-in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 Group ranks </a:t>
            </a:r>
            <a:r>
              <a:rPr lang="en-US" b="1" dirty="0"/>
              <a:t>3rd</a:t>
            </a:r>
            <a:r>
              <a:rPr lang="en-US" dirty="0"/>
              <a:t> — industry structure is a genuine source of heterogeneity in listing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Unemployment drops to last — within-state unemployment variation over the study window is smaller than cross-time national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B340C-2C35-B80F-69D1-ABD2DC8E0DD4}"/>
              </a:ext>
            </a:extLst>
          </p:cNvPr>
          <p:cNvSpPr txBox="1"/>
          <p:nvPr/>
        </p:nvSpPr>
        <p:spPr>
          <a:xfrm>
            <a:off x="6800850" y="5289550"/>
            <a:ext cx="4787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 factor dominates at both levels — seasonal memory is the primary driver of predictive accuracy</a:t>
            </a:r>
          </a:p>
        </p:txBody>
      </p:sp>
    </p:spTree>
    <p:extLst>
      <p:ext uri="{BB962C8B-B14F-4D97-AF65-F5344CB8AC3E}">
        <p14:creationId xmlns:p14="http://schemas.microsoft.com/office/powerpoint/2010/main" val="779214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BE37-E100-46F3-ADDB-FF1BAF42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4DC38-6707-BDE0-DAA4-A29F99308525}"/>
              </a:ext>
            </a:extLst>
          </p:cNvPr>
          <p:cNvSpPr txBox="1"/>
          <p:nvPr/>
        </p:nvSpPr>
        <p:spPr>
          <a:xfrm>
            <a:off x="3270250" y="139700"/>
            <a:ext cx="505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XGBoost</a:t>
            </a:r>
            <a:r>
              <a:rPr lang="en-US" sz="3200" dirty="0"/>
              <a:t>: Forecasting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F1952-6377-0B8A-4703-B99FC523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55541"/>
            <a:ext cx="6152083" cy="2333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8DEB50-2C3E-57E6-0F62-12BE6242C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208547"/>
            <a:ext cx="6078931" cy="2306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A22DF-AB16-F584-9739-FCF847F6C017}"/>
              </a:ext>
            </a:extLst>
          </p:cNvPr>
          <p:cNvSpPr txBox="1"/>
          <p:nvPr/>
        </p:nvSpPr>
        <p:spPr>
          <a:xfrm>
            <a:off x="7154266" y="1521562"/>
            <a:ext cx="35917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models track the seasonal pattern well in-sample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Out-of-sample: both levels miss the late-2024/2025 decline — consistent with an out-of-distribution episode with no training analog</a:t>
            </a:r>
          </a:p>
        </p:txBody>
      </p:sp>
    </p:spTree>
    <p:extLst>
      <p:ext uri="{BB962C8B-B14F-4D97-AF65-F5344CB8AC3E}">
        <p14:creationId xmlns:p14="http://schemas.microsoft.com/office/powerpoint/2010/main" val="116476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0414-5BA8-2919-17DF-66CCE92C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4927CE-7771-7DEE-682A-C0F48C94A9A6}"/>
              </a:ext>
            </a:extLst>
          </p:cNvPr>
          <p:cNvSpPr txBox="1"/>
          <p:nvPr/>
        </p:nvSpPr>
        <p:spPr>
          <a:xfrm>
            <a:off x="6810603" y="2567076"/>
            <a:ext cx="4681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 model's per-state forecasts show reasonable fit for large states; small states with volatile listing counts show larger errors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557C6-8F1E-525E-1C28-2047AD015301}"/>
              </a:ext>
            </a:extLst>
          </p:cNvPr>
          <p:cNvSpPr txBox="1"/>
          <p:nvPr/>
        </p:nvSpPr>
        <p:spPr>
          <a:xfrm>
            <a:off x="7042302" y="1368532"/>
            <a:ext cx="505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XGBoost</a:t>
            </a:r>
            <a:r>
              <a:rPr lang="en-US" sz="3200" dirty="0"/>
              <a:t>: Forecasting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F8384-3765-B630-53A3-5C3C2C0B5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88" y="183592"/>
            <a:ext cx="6251155" cy="638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0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83AE-96B5-C1FF-72DF-1CF38381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9E2EE-1569-2C88-52CB-4860C4A6A49E}"/>
              </a:ext>
            </a:extLst>
          </p:cNvPr>
          <p:cNvSpPr txBox="1"/>
          <p:nvPr/>
        </p:nvSpPr>
        <p:spPr>
          <a:xfrm>
            <a:off x="3568700" y="108337"/>
            <a:ext cx="505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SARIMAX vs </a:t>
            </a:r>
            <a:r>
              <a:rPr lang="en-US" sz="3200" dirty="0" err="1"/>
              <a:t>XGBoost</a:t>
            </a:r>
            <a:endParaRPr lang="en-US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58C807-81CA-B5CD-0355-7CE94E42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710770"/>
              </p:ext>
            </p:extLst>
          </p:nvPr>
        </p:nvGraphicFramePr>
        <p:xfrm>
          <a:off x="1460500" y="64346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429306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082076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20385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9712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RMSE/MAE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44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58002.7/44465.3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37808.8/30501.2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8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8246.0/4736.6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2033.3/1237.1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2739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B9ACD91-910B-7FA9-7C1F-675F11C1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1" y="1755986"/>
            <a:ext cx="7162800" cy="2949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7F15E2-C9C1-DF29-E482-9BF92EA31638}"/>
              </a:ext>
            </a:extLst>
          </p:cNvPr>
          <p:cNvSpPr txBox="1"/>
          <p:nvPr/>
        </p:nvSpPr>
        <p:spPr>
          <a:xfrm>
            <a:off x="2228850" y="4845050"/>
            <a:ext cx="6394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gap reflects </a:t>
            </a:r>
            <a:r>
              <a:rPr lang="en-US" dirty="0" err="1"/>
              <a:t>XGBoost's</a:t>
            </a:r>
            <a:r>
              <a:rPr lang="en-US" dirty="0"/>
              <a:t> ability to capture nonlinear seasonal patterns via 12-month lag of New Listing Count (Y_lag12)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 group RMSE breakdown: prediction errors are not concentrated in any single group — the model </a:t>
            </a:r>
            <a:r>
              <a:rPr lang="en-US" dirty="0" err="1"/>
              <a:t>generalises</a:t>
            </a:r>
            <a:r>
              <a:rPr lang="en-US" dirty="0"/>
              <a:t> reasonably across industry structures</a:t>
            </a:r>
          </a:p>
        </p:txBody>
      </p:sp>
    </p:spTree>
    <p:extLst>
      <p:ext uri="{BB962C8B-B14F-4D97-AF65-F5344CB8AC3E}">
        <p14:creationId xmlns:p14="http://schemas.microsoft.com/office/powerpoint/2010/main" val="304339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788B-A9D0-8028-CD5C-0BEB9B5DA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BC7B5-99C7-7EB9-4061-99142E7F6A67}"/>
              </a:ext>
            </a:extLst>
          </p:cNvPr>
          <p:cNvSpPr txBox="1"/>
          <p:nvPr/>
        </p:nvSpPr>
        <p:spPr>
          <a:xfrm>
            <a:off x="2671065" y="0"/>
            <a:ext cx="6568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SARIMAX vs </a:t>
            </a:r>
            <a:r>
              <a:rPr lang="en-US" sz="3200" dirty="0" err="1"/>
              <a:t>XGBoost</a:t>
            </a:r>
            <a:r>
              <a:rPr lang="en-US" sz="3200" dirty="0"/>
              <a:t> in Forecasting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8602B-AAF0-A20D-C1B9-AF8CD4C1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340" y="471943"/>
            <a:ext cx="8332064" cy="3160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4589C3-5B1F-34A4-9A89-D9412576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40" y="3225173"/>
            <a:ext cx="8332064" cy="31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14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4FDD-7812-4FD6-8107-52414DBBF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6A01F-753C-8A09-E544-AAC8058B0DC2}"/>
              </a:ext>
            </a:extLst>
          </p:cNvPr>
          <p:cNvSpPr txBox="1"/>
          <p:nvPr/>
        </p:nvSpPr>
        <p:spPr>
          <a:xfrm>
            <a:off x="4214369" y="169875"/>
            <a:ext cx="2535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8AF5C-E44D-0A5C-B136-1B34067BEB2F}"/>
              </a:ext>
            </a:extLst>
          </p:cNvPr>
          <p:cNvSpPr txBox="1"/>
          <p:nvPr/>
        </p:nvSpPr>
        <p:spPr>
          <a:xfrm>
            <a:off x="985570" y="1166842"/>
            <a:ext cx="93141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Unemployment suppresses listings — significant in national SARIMAX, state SARIMAX, and consistent with </a:t>
            </a:r>
            <a:r>
              <a:rPr lang="en-US" dirty="0" err="1"/>
              <a:t>XGBoost</a:t>
            </a:r>
            <a:r>
              <a:rPr lang="en-US" dirty="0"/>
              <a:t> SHAP direction; the most robust finding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Lock-in × unemployment interaction</a:t>
            </a:r>
            <a:r>
              <a:rPr lang="en-US" dirty="0"/>
              <a:t> — negative and significant in state SARIMAX, directionally consistent in </a:t>
            </a:r>
            <a:r>
              <a:rPr lang="en-US" dirty="0" err="1"/>
              <a:t>XGBoost</a:t>
            </a:r>
            <a:r>
              <a:rPr lang="en-US" dirty="0"/>
              <a:t>; lock-in bites harder when </a:t>
            </a:r>
            <a:r>
              <a:rPr lang="en-US" dirty="0" err="1"/>
              <a:t>labour</a:t>
            </a:r>
            <a:r>
              <a:rPr lang="en-US" dirty="0"/>
              <a:t> markets are weak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Affordability constraint dominates</a:t>
            </a:r>
            <a:r>
              <a:rPr lang="en-US" dirty="0"/>
              <a:t> — HPI negative and significant at state level; rising prices relative to a state's own baseline suppress rather than stimulate listings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Direct lock-in effect is weak in SARIMAX</a:t>
            </a:r>
            <a:r>
              <a:rPr lang="en-US" dirty="0"/>
              <a:t> — insignificant at both levels; but SHAP importance rises substantially at the state level, suggesting a nonlinear effect </a:t>
            </a:r>
            <a:r>
              <a:rPr lang="en-US" dirty="0" err="1"/>
              <a:t>XGBoost</a:t>
            </a:r>
            <a:r>
              <a:rPr lang="en-US" dirty="0"/>
              <a:t> captures but SARIMAX cannot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Industry structure matters for baseline levels</a:t>
            </a:r>
            <a:r>
              <a:rPr lang="en-US" dirty="0"/>
              <a:t> — Industry group are all significant; but the interaction between lock-in premium and industry groups are all insignificant — industry group modifies </a:t>
            </a:r>
            <a:r>
              <a:rPr lang="en-US" i="1" dirty="0"/>
              <a:t>how many</a:t>
            </a:r>
            <a:r>
              <a:rPr lang="en-US" dirty="0"/>
              <a:t> listings a state has, not </a:t>
            </a:r>
            <a:r>
              <a:rPr lang="en-US" i="1" dirty="0"/>
              <a:t>how strongly</a:t>
            </a:r>
            <a:r>
              <a:rPr lang="en-US" dirty="0"/>
              <a:t> lock-in suppresses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State panel provides stronger identification</a:t>
            </a:r>
            <a:r>
              <a:rPr lang="en-US" dirty="0"/>
              <a:t> — Interaction between lock-in premium and unemployment becomes significant only at the state level; cross-state variation is essential for identifying the unemployment amplification mechanism</a:t>
            </a:r>
          </a:p>
        </p:txBody>
      </p:sp>
    </p:spTree>
    <p:extLst>
      <p:ext uri="{BB962C8B-B14F-4D97-AF65-F5344CB8AC3E}">
        <p14:creationId xmlns:p14="http://schemas.microsoft.com/office/powerpoint/2010/main" val="286140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590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Zhong, Kelin</dc:creator>
  <cp:lastModifiedBy>Zhong, Kelin</cp:lastModifiedBy>
  <cp:revision>10</cp:revision>
  <dcterms:created xsi:type="dcterms:W3CDTF">2026-03-19T00:33:56Z</dcterms:created>
  <dcterms:modified xsi:type="dcterms:W3CDTF">2026-03-19T02:22:19Z</dcterms:modified>
</cp:coreProperties>
</file>